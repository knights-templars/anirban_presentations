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73393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ctr" defTabSz="173393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ctr" defTabSz="173393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ctr" defTabSz="173393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ctr" defTabSz="173393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ctr" defTabSz="173393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ctr" defTabSz="173393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ctr" defTabSz="173393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ctr" defTabSz="173393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76672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605575"/>
              <a:satOff val="15655"/>
              <a:lumOff val="22628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A7AAA9"/>
              </a:solidFill>
              <a:prstDash val="solid"/>
              <a:miter lim="400000"/>
            </a:ln>
          </a:left>
          <a:right>
            <a:ln w="12700" cap="flat">
              <a:solidFill>
                <a:srgbClr val="A7AAA9"/>
              </a:solidFill>
              <a:prstDash val="solid"/>
              <a:miter lim="400000"/>
            </a:ln>
          </a:right>
          <a:top>
            <a:ln w="254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7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7AA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esentation Title"/>
          <p:cNvSpPr txBox="1"/>
          <p:nvPr>
            <p:ph type="title" hasCustomPrompt="1"/>
          </p:nvPr>
        </p:nvSpPr>
        <p:spPr>
          <a:xfrm>
            <a:off x="711200" y="2197100"/>
            <a:ext cx="11582400" cy="33020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pc="-82" sz="82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711200" y="5334000"/>
            <a:ext cx="11582400" cy="1455526"/>
          </a:xfrm>
          <a:prstGeom prst="rect">
            <a:avLst/>
          </a:prstGeom>
        </p:spPr>
        <p:txBody>
          <a:bodyPr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SzTx/>
              <a:buNone/>
              <a:defRPr spc="-38" sz="3800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584200">
              <a:lnSpc>
                <a:spcPct val="100000"/>
              </a:lnSpc>
              <a:spcBef>
                <a:spcPts val="0"/>
              </a:spcBef>
              <a:buSzTx/>
              <a:buNone/>
              <a:defRPr spc="-38" sz="3800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584200">
              <a:lnSpc>
                <a:spcPct val="100000"/>
              </a:lnSpc>
              <a:spcBef>
                <a:spcPts val="0"/>
              </a:spcBef>
              <a:buSzTx/>
              <a:buNone/>
              <a:defRPr spc="-38" sz="3800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584200">
              <a:lnSpc>
                <a:spcPct val="100000"/>
              </a:lnSpc>
              <a:spcBef>
                <a:spcPts val="0"/>
              </a:spcBef>
              <a:buSzTx/>
              <a:buNone/>
              <a:defRPr spc="-38" sz="3800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584200">
              <a:lnSpc>
                <a:spcPct val="100000"/>
              </a:lnSpc>
              <a:spcBef>
                <a:spcPts val="0"/>
              </a:spcBef>
              <a:buSzTx/>
              <a:buNone/>
              <a:defRPr spc="-38" sz="3800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Author and Date"/>
          <p:cNvSpPr txBox="1"/>
          <p:nvPr>
            <p:ph type="body" sz="quarter" idx="21" hasCustomPrompt="1"/>
          </p:nvPr>
        </p:nvSpPr>
        <p:spPr>
          <a:xfrm>
            <a:off x="711200" y="8410816"/>
            <a:ext cx="11582400" cy="429261"/>
          </a:xfrm>
          <a:prstGeom prst="rect">
            <a:avLst/>
          </a:prstGeom>
        </p:spPr>
        <p:txBody>
          <a:bodyPr/>
          <a:lstStyle>
            <a:lvl1pPr marL="0" indent="0" algn="ctr" defTabSz="587022">
              <a:lnSpc>
                <a:spcPct val="100000"/>
              </a:lnSpc>
              <a:spcBef>
                <a:spcPts val="0"/>
              </a:spcBef>
              <a:buSzTx/>
              <a:buNone/>
              <a:defRPr spc="-19" sz="20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6349999" y="9118599"/>
            <a:ext cx="306325" cy="328423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each and sea at sunset"/>
          <p:cNvSpPr/>
          <p:nvPr>
            <p:ph type="pic" idx="21"/>
          </p:nvPr>
        </p:nvSpPr>
        <p:spPr>
          <a:xfrm>
            <a:off x="-1320800" y="-596900"/>
            <a:ext cx="15633700" cy="1042246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711200" y="2197100"/>
            <a:ext cx="11582400" cy="33020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pc="-82" sz="82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711200" y="5334000"/>
            <a:ext cx="11582400" cy="1457152"/>
          </a:xfrm>
          <a:prstGeom prst="rect">
            <a:avLst/>
          </a:prstGeom>
        </p:spPr>
        <p:txBody>
          <a:bodyPr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SzTx/>
              <a:buNone/>
              <a:defRPr spc="-38" sz="38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584200">
              <a:lnSpc>
                <a:spcPct val="100000"/>
              </a:lnSpc>
              <a:spcBef>
                <a:spcPts val="0"/>
              </a:spcBef>
              <a:buSzTx/>
              <a:buNone/>
              <a:defRPr spc="-38" sz="38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584200">
              <a:lnSpc>
                <a:spcPct val="100000"/>
              </a:lnSpc>
              <a:spcBef>
                <a:spcPts val="0"/>
              </a:spcBef>
              <a:buSzTx/>
              <a:buNone/>
              <a:defRPr spc="-38" sz="38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584200">
              <a:lnSpc>
                <a:spcPct val="100000"/>
              </a:lnSpc>
              <a:spcBef>
                <a:spcPts val="0"/>
              </a:spcBef>
              <a:buSzTx/>
              <a:buNone/>
              <a:defRPr spc="-38" sz="38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584200">
              <a:lnSpc>
                <a:spcPct val="100000"/>
              </a:lnSpc>
              <a:spcBef>
                <a:spcPts val="0"/>
              </a:spcBef>
              <a:buSzTx/>
              <a:buNone/>
              <a:defRPr spc="-38" sz="38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711200" y="8407400"/>
            <a:ext cx="11582400" cy="429260"/>
          </a:xfrm>
          <a:prstGeom prst="rect">
            <a:avLst/>
          </a:prstGeom>
        </p:spPr>
        <p:txBody>
          <a:bodyPr/>
          <a:lstStyle>
            <a:lvl1pPr marL="0" indent="0" algn="ctr" defTabSz="587022">
              <a:lnSpc>
                <a:spcPct val="100000"/>
              </a:lnSpc>
              <a:spcBef>
                <a:spcPts val="0"/>
              </a:spcBef>
              <a:buSzTx/>
              <a:buNone/>
              <a:defRPr spc="-19" sz="20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xfrm>
            <a:off x="6349999" y="9118599"/>
            <a:ext cx="306325" cy="328423"/>
          </a:xfrm>
          <a:prstGeom prst="rect">
            <a:avLst/>
          </a:prstGeom>
        </p:spPr>
        <p:txBody>
          <a:bodyPr/>
          <a:lstStyle>
            <a:lvl1pPr defTabSz="584200"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ea against sky at sunset"/>
          <p:cNvSpPr/>
          <p:nvPr>
            <p:ph type="pic" idx="21"/>
          </p:nvPr>
        </p:nvSpPr>
        <p:spPr>
          <a:xfrm>
            <a:off x="3427686" y="762000"/>
            <a:ext cx="11889828" cy="792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711406" y="2851794"/>
            <a:ext cx="5058553" cy="2088506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711406" y="4775200"/>
            <a:ext cx="5058553" cy="3911600"/>
          </a:xfrm>
          <a:prstGeom prst="rect">
            <a:avLst/>
          </a:prstGeom>
        </p:spPr>
        <p:txBody>
          <a:bodyPr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SzTx/>
              <a:buNone/>
              <a:defRPr spc="-32" sz="3200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584200">
              <a:lnSpc>
                <a:spcPct val="100000"/>
              </a:lnSpc>
              <a:spcBef>
                <a:spcPts val="0"/>
              </a:spcBef>
              <a:buSzTx/>
              <a:buNone/>
              <a:defRPr spc="-32" sz="3200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584200">
              <a:lnSpc>
                <a:spcPct val="100000"/>
              </a:lnSpc>
              <a:spcBef>
                <a:spcPts val="0"/>
              </a:spcBef>
              <a:buSzTx/>
              <a:buNone/>
              <a:defRPr spc="-32" sz="3200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584200">
              <a:lnSpc>
                <a:spcPct val="100000"/>
              </a:lnSpc>
              <a:spcBef>
                <a:spcPts val="0"/>
              </a:spcBef>
              <a:buSzTx/>
              <a:buNone/>
              <a:defRPr spc="-32" sz="3200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584200">
              <a:lnSpc>
                <a:spcPct val="100000"/>
              </a:lnSpc>
              <a:spcBef>
                <a:spcPts val="0"/>
              </a:spcBef>
              <a:buSzTx/>
              <a:buNone/>
              <a:defRPr spc="-32" sz="3200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3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Slide Subtitle"/>
          <p:cNvSpPr txBox="1"/>
          <p:nvPr>
            <p:ph type="body" sz="quarter" idx="21" hasCustomPrompt="1"/>
          </p:nvPr>
        </p:nvSpPr>
        <p:spPr>
          <a:xfrm>
            <a:off x="711200" y="1504879"/>
            <a:ext cx="11582400" cy="630937"/>
          </a:xfrm>
          <a:prstGeom prst="rect">
            <a:avLst/>
          </a:prstGeom>
        </p:spPr>
        <p:txBody>
          <a:bodyPr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SzTx/>
              <a:buNone/>
              <a:defRPr spc="-32" sz="32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7912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707744" y="369937"/>
            <a:ext cx="5054071" cy="203036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711200" y="3412066"/>
            <a:ext cx="5054600" cy="5267095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Slide Subtitle"/>
          <p:cNvSpPr txBox="1"/>
          <p:nvPr>
            <p:ph type="body" sz="quarter" idx="21" hasCustomPrompt="1"/>
          </p:nvPr>
        </p:nvSpPr>
        <p:spPr>
          <a:xfrm>
            <a:off x="711200" y="2268982"/>
            <a:ext cx="5054600" cy="630937"/>
          </a:xfrm>
          <a:prstGeom prst="rect">
            <a:avLst/>
          </a:prstGeom>
        </p:spPr>
        <p:txBody>
          <a:bodyPr anchor="ctr"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SzTx/>
              <a:buNone/>
              <a:defRPr spc="-32" sz="32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Sea against sky at sunset"/>
          <p:cNvSpPr/>
          <p:nvPr>
            <p:ph type="pic" idx="22"/>
          </p:nvPr>
        </p:nvSpPr>
        <p:spPr>
          <a:xfrm>
            <a:off x="5848049" y="762000"/>
            <a:ext cx="7049102" cy="792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711200" y="2451100"/>
            <a:ext cx="11582400" cy="4445000"/>
          </a:xfrm>
          <a:prstGeom prst="rect">
            <a:avLst/>
          </a:prstGeom>
        </p:spPr>
        <p:txBody>
          <a:bodyPr anchor="ctr"/>
          <a:lstStyle>
            <a:lvl1pPr defTabSz="825500">
              <a:lnSpc>
                <a:spcPct val="80000"/>
              </a:lnSpc>
              <a:defRPr spc="-82" sz="8200"/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6349999" y="9118599"/>
            <a:ext cx="306325" cy="328423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711200" y="393700"/>
            <a:ext cx="11582400" cy="1168400"/>
          </a:xfrm>
          <a:prstGeom prst="rect">
            <a:avLst/>
          </a:prstGeom>
        </p:spPr>
        <p:txBody>
          <a:bodyPr anchor="ctr"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711200" y="1504879"/>
            <a:ext cx="11582400" cy="630937"/>
          </a:xfrm>
          <a:prstGeom prst="rect">
            <a:avLst/>
          </a:prstGeom>
        </p:spPr>
        <p:txBody>
          <a:bodyPr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SzTx/>
              <a:buNone/>
              <a:defRPr spc="-32" sz="32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Body Level One…"/>
          <p:cNvSpPr txBox="1"/>
          <p:nvPr>
            <p:ph type="body" idx="1" hasCustomPrompt="1"/>
          </p:nvPr>
        </p:nvSpPr>
        <p:spPr>
          <a:xfrm>
            <a:off x="711200" y="2997518"/>
            <a:ext cx="11582400" cy="6045201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1700"/>
              </a:spcBef>
              <a:buSzTx/>
              <a:buNone/>
              <a:defRPr spc="-88" sz="44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587022">
              <a:lnSpc>
                <a:spcPct val="100000"/>
              </a:lnSpc>
              <a:spcBef>
                <a:spcPts val="1700"/>
              </a:spcBef>
              <a:buSzTx/>
              <a:buNone/>
              <a:defRPr spc="-88" sz="44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587022">
              <a:lnSpc>
                <a:spcPct val="100000"/>
              </a:lnSpc>
              <a:spcBef>
                <a:spcPts val="1700"/>
              </a:spcBef>
              <a:buSzTx/>
              <a:buNone/>
              <a:defRPr spc="-88" sz="44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587022">
              <a:lnSpc>
                <a:spcPct val="100000"/>
              </a:lnSpc>
              <a:spcBef>
                <a:spcPts val="1700"/>
              </a:spcBef>
              <a:buSzTx/>
              <a:buNone/>
              <a:defRPr spc="-88" sz="44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587022">
              <a:lnSpc>
                <a:spcPct val="100000"/>
              </a:lnSpc>
              <a:spcBef>
                <a:spcPts val="1700"/>
              </a:spcBef>
              <a:buSzTx/>
              <a:buNone/>
              <a:defRPr spc="-88" sz="44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9" name="Agenda Title"/>
          <p:cNvSpPr txBox="1"/>
          <p:nvPr>
            <p:ph type="title" hasCustomPrompt="1"/>
          </p:nvPr>
        </p:nvSpPr>
        <p:spPr>
          <a:xfrm>
            <a:off x="711200" y="393700"/>
            <a:ext cx="11582400" cy="11684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90" name="Agenda Subtitle"/>
          <p:cNvSpPr txBox="1"/>
          <p:nvPr>
            <p:ph type="body" sz="quarter" idx="21" hasCustomPrompt="1"/>
          </p:nvPr>
        </p:nvSpPr>
        <p:spPr>
          <a:xfrm>
            <a:off x="711200" y="1504879"/>
            <a:ext cx="11582400" cy="630937"/>
          </a:xfrm>
          <a:prstGeom prst="rect">
            <a:avLst/>
          </a:prstGeom>
        </p:spPr>
        <p:txBody>
          <a:bodyPr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SzTx/>
              <a:buNone/>
              <a:defRPr spc="-32" sz="32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idx="1" hasCustomPrompt="1"/>
          </p:nvPr>
        </p:nvSpPr>
        <p:spPr>
          <a:xfrm>
            <a:off x="711200" y="2451100"/>
            <a:ext cx="11582400" cy="44450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82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82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82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82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sz="half" idx="1" hasCustomPrompt="1"/>
          </p:nvPr>
        </p:nvSpPr>
        <p:spPr>
          <a:xfrm>
            <a:off x="711200" y="1926083"/>
            <a:ext cx="11582400" cy="4157038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58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58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58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58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58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711200" y="5625409"/>
            <a:ext cx="11582400" cy="630937"/>
          </a:xfrm>
          <a:prstGeom prst="rect">
            <a:avLst/>
          </a:prstGeom>
        </p:spPr>
        <p:txBody>
          <a:bodyPr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SzTx/>
              <a:buNone/>
              <a:defRPr spc="-32" sz="32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711200" y="7191692"/>
            <a:ext cx="11582400" cy="630937"/>
          </a:xfrm>
          <a:prstGeom prst="rect">
            <a:avLst/>
          </a:prstGeom>
        </p:spPr>
        <p:txBody>
          <a:bodyPr anchor="ctr"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SzTx/>
              <a:buNone/>
              <a:defRPr spc="-32" sz="32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711200" y="2743200"/>
            <a:ext cx="11582400" cy="3619500"/>
          </a:xfrm>
          <a:prstGeom prst="rect">
            <a:avLst/>
          </a:prstGeom>
        </p:spPr>
        <p:txBody>
          <a:bodyPr anchor="ctr"/>
          <a:lstStyle>
            <a:lvl1pPr marL="0" indent="0" algn="ctr" defTabSz="584200">
              <a:lnSpc>
                <a:spcPct val="80000"/>
              </a:lnSpc>
              <a:spcBef>
                <a:spcPts val="0"/>
              </a:spcBef>
              <a:buSzTx/>
              <a:buNone/>
              <a:defRPr sz="58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584200">
              <a:lnSpc>
                <a:spcPct val="80000"/>
              </a:lnSpc>
              <a:spcBef>
                <a:spcPts val="0"/>
              </a:spcBef>
              <a:buSzTx/>
              <a:buNone/>
              <a:defRPr sz="58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584200">
              <a:lnSpc>
                <a:spcPct val="80000"/>
              </a:lnSpc>
              <a:spcBef>
                <a:spcPts val="0"/>
              </a:spcBef>
              <a:buSzTx/>
              <a:buNone/>
              <a:defRPr sz="58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584200">
              <a:lnSpc>
                <a:spcPct val="80000"/>
              </a:lnSpc>
              <a:spcBef>
                <a:spcPts val="0"/>
              </a:spcBef>
              <a:buSzTx/>
              <a:buNone/>
              <a:defRPr sz="58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584200">
              <a:lnSpc>
                <a:spcPct val="80000"/>
              </a:lnSpc>
              <a:spcBef>
                <a:spcPts val="0"/>
              </a:spcBef>
              <a:buSzTx/>
              <a:buNone/>
              <a:defRPr sz="58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ea against sky at sunset 1"/>
          <p:cNvSpPr/>
          <p:nvPr>
            <p:ph type="pic" sz="quarter" idx="21"/>
          </p:nvPr>
        </p:nvSpPr>
        <p:spPr>
          <a:xfrm>
            <a:off x="6598373" y="762000"/>
            <a:ext cx="5715001" cy="38091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each and sea at sunset"/>
          <p:cNvSpPr/>
          <p:nvPr>
            <p:ph type="pic" idx="22"/>
          </p:nvPr>
        </p:nvSpPr>
        <p:spPr>
          <a:xfrm>
            <a:off x="-2387600" y="762000"/>
            <a:ext cx="11887200" cy="792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Sea against sky at sunset 2"/>
          <p:cNvSpPr/>
          <p:nvPr>
            <p:ph type="pic" sz="half" idx="23"/>
          </p:nvPr>
        </p:nvSpPr>
        <p:spPr>
          <a:xfrm>
            <a:off x="6661873" y="3637404"/>
            <a:ext cx="5588001" cy="62821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xfrm>
            <a:off x="6349238" y="9118599"/>
            <a:ext cx="306325" cy="328423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each and sea at sunset"/>
          <p:cNvSpPr/>
          <p:nvPr>
            <p:ph type="pic" idx="21"/>
          </p:nvPr>
        </p:nvSpPr>
        <p:spPr>
          <a:xfrm>
            <a:off x="558800" y="762000"/>
            <a:ext cx="11887200" cy="792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711200" y="2997200"/>
            <a:ext cx="11582400" cy="604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Slide Title"/>
          <p:cNvSpPr txBox="1"/>
          <p:nvPr>
            <p:ph type="title" hasCustomPrompt="1"/>
          </p:nvPr>
        </p:nvSpPr>
        <p:spPr>
          <a:xfrm>
            <a:off x="711200" y="397933"/>
            <a:ext cx="11582400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45851" y="9118599"/>
            <a:ext cx="306325" cy="32842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1739900">
              <a:lnSpc>
                <a:spcPct val="100000"/>
              </a:lnSpc>
              <a:defRPr sz="14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ctr" defTabSz="1739900" rtl="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8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1739900" rtl="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8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1739900" rtl="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8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1739900" rtl="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8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1739900" rtl="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8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1739900" rtl="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8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1739900" rtl="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8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1739900" rtl="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8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1739900" rtl="0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58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393700" marR="0" indent="-393700" algn="l" defTabSz="17399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75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787400" marR="0" indent="-393700" algn="l" defTabSz="17399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75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181100" marR="0" indent="-393700" algn="l" defTabSz="17399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75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1574800" marR="0" indent="-393700" algn="l" defTabSz="17399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75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1968500" marR="0" indent="-393700" algn="l" defTabSz="17399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75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2362200" marR="0" indent="-393700" algn="l" defTabSz="17399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75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2755900" marR="0" indent="-393700" algn="l" defTabSz="17399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75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3149600" marR="0" indent="-393700" algn="l" defTabSz="17399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75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3543300" marR="0" indent="-393700" algn="l" defTabSz="17399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75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1739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1739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1739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1739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1739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1739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1739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1739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1739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pscience.iop.org/journal/2041-8205" TargetMode="External"/><Relationship Id="rId5" Type="http://schemas.openxmlformats.org/officeDocument/2006/relationships/hyperlink" Target="https://iopscience.iop.org/volume/2041-8205/938" TargetMode="External"/><Relationship Id="rId6" Type="http://schemas.openxmlformats.org/officeDocument/2006/relationships/hyperlink" Target="https://iopscience.iop.org/issue/2041-8205/938/2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hermonuclear Supernova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Thermonuclear Supernovae</a:t>
            </a:r>
          </a:p>
        </p:txBody>
      </p:sp>
      <p:sp>
        <p:nvSpPr>
          <p:cNvPr id="152" name="Anirban Dutta and D K Sahu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Anirban Dutta and D K Sahu</a:t>
            </a:r>
          </a:p>
        </p:txBody>
      </p:sp>
      <p:sp>
        <p:nvSpPr>
          <p:cNvPr id="153" name="2022-02-02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2022-02-02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N 2011aa has the slowest decline rate observed in a Type Ia supernova.…"/>
          <p:cNvSpPr txBox="1"/>
          <p:nvPr>
            <p:ph type="body" sz="quarter" idx="1"/>
          </p:nvPr>
        </p:nvSpPr>
        <p:spPr>
          <a:xfrm>
            <a:off x="524933" y="7697500"/>
            <a:ext cx="5876028" cy="1437133"/>
          </a:xfrm>
          <a:prstGeom prst="rect">
            <a:avLst/>
          </a:prstGeom>
        </p:spPr>
        <p:txBody>
          <a:bodyPr/>
          <a:lstStyle/>
          <a:p>
            <a:pPr marL="165353" indent="-165353" algn="just" defTabSz="730757">
              <a:spcBef>
                <a:spcPts val="800"/>
              </a:spcBef>
              <a:defRPr sz="1386"/>
            </a:pPr>
            <a:r>
              <a:t>SN 2011aa has the slowest decline rate observed in a Type Ia supernova.</a:t>
            </a:r>
          </a:p>
          <a:p>
            <a:pPr marL="165353" indent="-165353" algn="just" defTabSz="730757">
              <a:spcBef>
                <a:spcPts val="800"/>
              </a:spcBef>
              <a:defRPr sz="1386"/>
            </a:pPr>
            <a:r>
              <a:t>We model the UBVRI band light curves of SN 2011aa and found that the </a:t>
            </a:r>
            <a:r>
              <a:rPr>
                <a:solidFill>
                  <a:schemeClr val="accent4">
                    <a:hueOff val="-904334"/>
                    <a:lumOff val="2953"/>
                  </a:schemeClr>
                </a:solidFill>
              </a:rPr>
              <a:t>violent merger of white dwarfs</a:t>
            </a:r>
            <a:r>
              <a:t> is successful in explaining the observations. </a:t>
            </a:r>
          </a:p>
        </p:txBody>
      </p:sp>
      <p:sp>
        <p:nvSpPr>
          <p:cNvPr id="156" name="SN 2011aa - The slowest declining Type I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496313">
              <a:defRPr spc="-49" sz="4988"/>
            </a:lvl1pPr>
          </a:lstStyle>
          <a:p>
            <a:pPr/>
            <a:r>
              <a:t>SN 2011aa - The slowest declining Type Ia</a:t>
            </a:r>
          </a:p>
        </p:txBody>
      </p:sp>
      <p:sp>
        <p:nvSpPr>
          <p:cNvPr id="157" name="We considered explosion models due to violent merger of white dwarfs, collision of white dwarfs and rotating white dwarfs.…"/>
          <p:cNvSpPr txBox="1"/>
          <p:nvPr/>
        </p:nvSpPr>
        <p:spPr>
          <a:xfrm>
            <a:off x="6913503" y="7697500"/>
            <a:ext cx="5876028" cy="1437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165353" indent="-165353" algn="just" defTabSz="730757">
              <a:spcBef>
                <a:spcPts val="800"/>
              </a:spcBef>
              <a:buSzPct val="175000"/>
              <a:buChar char="•"/>
              <a:defRPr sz="1386"/>
            </a:pPr>
            <a:r>
              <a:t>We considered explosion models due to violent merger of white dwarfs, collision of white dwarfs and rotating white dwarfs.</a:t>
            </a:r>
          </a:p>
          <a:p>
            <a:pPr marL="165353" indent="-165353" algn="just" defTabSz="730757">
              <a:spcBef>
                <a:spcPts val="800"/>
              </a:spcBef>
              <a:buSzPct val="175000"/>
              <a:buChar char="•"/>
              <a:defRPr sz="1386"/>
            </a:pPr>
            <a:r>
              <a:t>The observed spectral evolution can be best understood by considering the abundance structure of the violent merger of two white dwarfs.</a:t>
            </a:r>
          </a:p>
        </p:txBody>
      </p:sp>
      <p:pic>
        <p:nvPicPr>
          <p:cNvPr id="158" name="Light_Curve_SN2011aa.png" descr="Light_Curve_SN2011aa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6035" y="1820641"/>
            <a:ext cx="5792444" cy="5470153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Screenshot 2023-02-02 at 12.54.03 PM.png" descr="Screenshot 2023-02-02 at 12.54.03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76107" y="2086978"/>
            <a:ext cx="6550820" cy="5203816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The Astrophysical Journal Letters, Volume 938, Number 2"/>
          <p:cNvSpPr txBox="1"/>
          <p:nvPr/>
        </p:nvSpPr>
        <p:spPr>
          <a:xfrm>
            <a:off x="2238433" y="9065532"/>
            <a:ext cx="8277861" cy="473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ct val="100000"/>
              </a:lnSpc>
              <a:spcBef>
                <a:spcPts val="1400"/>
              </a:spcBef>
              <a:defRPr sz="2500" u="sng">
                <a:solidFill>
                  <a:srgbClr val="006EB2"/>
                </a:solidFill>
                <a:uFill>
                  <a:solidFill>
                    <a:srgbClr val="006EB2"/>
                  </a:solidFill>
                </a:u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>
                <a:hlinkClick r:id="rId4" invalidUrl="" action="" tgtFrame="" tooltip="" history="1" highlightClick="0" endSnd="0"/>
              </a:rPr>
              <a:t>The Astrophysical Journal Letters</a:t>
            </a:r>
            <a:r>
              <a:rPr u="none">
                <a:solidFill>
                  <a:srgbClr val="333333"/>
                </a:solidFill>
              </a:rPr>
              <a:t>, </a:t>
            </a:r>
            <a:r>
              <a:rPr>
                <a:hlinkClick r:id="rId5" invalidUrl="" action="" tgtFrame="" tooltip="" history="1" highlightClick="0" endSnd="0"/>
              </a:rPr>
              <a:t>Volume 938</a:t>
            </a:r>
            <a:r>
              <a:rPr u="none">
                <a:solidFill>
                  <a:srgbClr val="333333"/>
                </a:solidFill>
              </a:rPr>
              <a:t>, </a:t>
            </a:r>
            <a:r>
              <a:rPr>
                <a:hlinkClick r:id="rId6" invalidUrl="" action="" tgtFrame="" tooltip="" history="1" highlightClick="0" endSnd="0"/>
              </a:rPr>
              <a:t>Number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robing the homogeneity / diversity in Type Ia supernova explos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974344">
              <a:defRPr spc="-32" sz="3248"/>
            </a:lvl1pPr>
          </a:lstStyle>
          <a:p>
            <a:pPr/>
            <a:r>
              <a:t>Probing the homogeneity / diversity in Type Ia supernova explosions</a:t>
            </a:r>
          </a:p>
        </p:txBody>
      </p:sp>
      <p:sp>
        <p:nvSpPr>
          <p:cNvPr id="163" name="We generated 36 models based between mass 1.0 - 2.0   and 0.7 - 1.8   erg based on the violent merger abundances (Pakmor+ 2012).…"/>
          <p:cNvSpPr txBox="1"/>
          <p:nvPr>
            <p:ph type="body" sz="half" idx="1"/>
          </p:nvPr>
        </p:nvSpPr>
        <p:spPr>
          <a:xfrm>
            <a:off x="453197" y="1596644"/>
            <a:ext cx="12253449" cy="2619544"/>
          </a:xfrm>
          <a:prstGeom prst="rect">
            <a:avLst/>
          </a:prstGeom>
        </p:spPr>
        <p:txBody>
          <a:bodyPr/>
          <a:lstStyle/>
          <a:p>
            <a:pPr marL="212597" indent="-212597" algn="just" defTabSz="939546">
              <a:spcBef>
                <a:spcPts val="1000"/>
              </a:spcBef>
              <a:defRPr sz="1782"/>
            </a:pPr>
            <a:r>
              <a:t>We generated 36 models based between mass 1.0 - 2.0 </a:t>
            </a:r>
            <a14:m>
              <m:oMath>
                <m:sSub>
                  <m:e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⊙</m:t>
                    </m:r>
                  </m:sub>
                </m:sSub>
              </m:oMath>
            </a14:m>
            <a:r>
              <a:t> and 0.7 - 1.8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e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51</m:t>
                    </m:r>
                  </m:sup>
                </m:sSup>
              </m:oMath>
            </a14:m>
            <a:r>
              <a:t> erg based on the </a:t>
            </a:r>
            <a:r>
              <a:rPr>
                <a:solidFill>
                  <a:schemeClr val="accent4">
                    <a:hueOff val="-904334"/>
                    <a:lumOff val="2953"/>
                  </a:schemeClr>
                </a:solidFill>
              </a:rPr>
              <a:t>violent merger abundances</a:t>
            </a:r>
            <a:r>
              <a:t> (Pakmor+ 2012).</a:t>
            </a:r>
          </a:p>
          <a:p>
            <a:pPr marL="212597" indent="-212597" algn="just" defTabSz="939546">
              <a:spcBef>
                <a:spcPts val="1000"/>
              </a:spcBef>
              <a:defRPr sz="1782"/>
            </a:pPr>
            <a:r>
              <a:t>We generated 36 models based between mass 1.0 - 2.0 </a:t>
            </a:r>
            <a14:m>
              <m:oMath>
                <m:sSub>
                  <m:e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⊙</m:t>
                    </m:r>
                  </m:sub>
                </m:sSub>
              </m:oMath>
            </a14:m>
            <a:r>
              <a:t> and 0.7 - 1.8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e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51</m:t>
                    </m:r>
                  </m:sup>
                </m:sSup>
              </m:oMath>
            </a14:m>
            <a:r>
              <a:t> erg based on the </a:t>
            </a:r>
            <a:r>
              <a:rPr>
                <a:solidFill>
                  <a:schemeClr val="accent4">
                    <a:hueOff val="-904334"/>
                    <a:lumOff val="2953"/>
                  </a:schemeClr>
                </a:solidFill>
              </a:rPr>
              <a:t>Deflagration-to-detonation transition in a </a:t>
            </a:r>
            <a14:m>
              <m:oMath>
                <m:sSub>
                  <m:e>
                    <m:r>
                      <a:rPr xmlns:a="http://schemas.openxmlformats.org/drawingml/2006/main" sz="2050" i="1">
                        <a:solidFill>
                          <a:srgbClr val="FF8A25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m:rPr>
                        <m:sty m:val="p"/>
                      </m:rPr>
                      <a:rPr xmlns:a="http://schemas.openxmlformats.org/drawingml/2006/main" sz="2050" i="1">
                        <a:solidFill>
                          <a:srgbClr val="FF8A25"/>
                        </a:solidFill>
                        <a:latin typeface="Cambria Math" panose="02040503050406030204" pitchFamily="18" charset="0"/>
                      </a:rPr>
                      <m:t>ch</m:t>
                    </m:r>
                  </m:sub>
                </m:sSub>
              </m:oMath>
            </a14:m>
            <a:r>
              <a:rPr>
                <a:solidFill>
                  <a:schemeClr val="accent4">
                    <a:hueOff val="-904334"/>
                    <a:lumOff val="2953"/>
                  </a:schemeClr>
                </a:solidFill>
              </a:rPr>
              <a:t> WD</a:t>
            </a:r>
            <a:r>
              <a:t> (Seitenzahl+ 2012).</a:t>
            </a:r>
          </a:p>
          <a:p>
            <a:pPr marL="212597" indent="-212597" algn="just" defTabSz="939546">
              <a:spcBef>
                <a:spcPts val="1000"/>
              </a:spcBef>
              <a:defRPr sz="1782"/>
            </a:pPr>
            <a:r>
              <a:t>Aim is to find the model that best matches the light curve properties like </a:t>
            </a:r>
            <a14:m>
              <m:oMath>
                <m:r>
                  <m:rPr>
                    <m:sty m:val="p"/>
                  </m:rP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Δ</m:t>
                </m:r>
                <m:sSub>
                  <m:e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15</m:t>
                    </m:r>
                  </m:sub>
                </m:sSub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and </a:t>
            </a:r>
            <a14:m>
              <m:oMath>
                <m:sSub>
                  <m:e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sub>
                </m:sSub>
              </m:oMath>
            </a14:m>
            <a:r>
              <a:t>.</a:t>
            </a:r>
          </a:p>
          <a:p>
            <a:pPr marL="212597" indent="-212597" algn="just" defTabSz="939546">
              <a:spcBef>
                <a:spcPts val="1000"/>
              </a:spcBef>
              <a:defRPr sz="1782"/>
            </a:pPr>
            <a:r>
              <a:t>Observed spectral evolution will constrain the abundances of the model further.</a:t>
            </a:r>
          </a:p>
        </p:txBody>
      </p:sp>
      <p:pic>
        <p:nvPicPr>
          <p:cNvPr id="164" name="Model_LC_2006bt.png" descr="Model_LC_2006b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85864" y="4932479"/>
            <a:ext cx="5858251" cy="4515665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Screenshot 2023-01-09 at 4.43.52 PM.png" descr="Screenshot 2023-01-09 at 4.43.52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2001" y="4970184"/>
            <a:ext cx="4921157" cy="4651091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2006bt best fit with VM model with mass 1.4   and kinetic energy 1.8 x   erg"/>
          <p:cNvSpPr txBox="1"/>
          <p:nvPr/>
        </p:nvSpPr>
        <p:spPr>
          <a:xfrm>
            <a:off x="1801010" y="4307983"/>
            <a:ext cx="8630924" cy="447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584200">
              <a:lnSpc>
                <a:spcPct val="100000"/>
              </a:lnSpc>
              <a:spcBef>
                <a:spcPts val="2400"/>
              </a:spcBef>
              <a:defRPr sz="1800">
                <a:solidFill>
                  <a:srgbClr val="FF9D3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2006bt best fit with VM model with mass 1.4 </a:t>
            </a:r>
            <a14:m>
              <m:oMath>
                <m:sSub>
                  <m:e>
                    <m:r>
                      <a:rPr xmlns:a="http://schemas.openxmlformats.org/drawingml/2006/main" sz="2000" i="1">
                        <a:solidFill>
                          <a:srgbClr val="FF9C35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2000" i="1">
                        <a:solidFill>
                          <a:srgbClr val="FF9C35"/>
                        </a:solidFill>
                        <a:latin typeface="Cambria Math" panose="02040503050406030204" pitchFamily="18" charset="0"/>
                      </a:rPr>
                      <m:t>⊙</m:t>
                    </m:r>
                  </m:sub>
                </m:sSub>
              </m:oMath>
            </a14:m>
            <a:r>
              <a:t> and kinetic energy 1.8 x </a:t>
            </a:r>
            <a14:m>
              <m:oMath>
                <m:sSup>
                  <m:e>
                    <m:r>
                      <a:rPr xmlns:a="http://schemas.openxmlformats.org/drawingml/2006/main" sz="2200" i="1">
                        <a:solidFill>
                          <a:srgbClr val="FF9C35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xmlns:a="http://schemas.openxmlformats.org/drawingml/2006/main" sz="2200" i="1">
                        <a:solidFill>
                          <a:srgbClr val="FF9C35"/>
                        </a:solidFill>
                        <a:latin typeface="Cambria Math" panose="02040503050406030204" pitchFamily="18" charset="0"/>
                      </a:rPr>
                      <m:t>51</m:t>
                    </m:r>
                  </m:sup>
                </m:sSup>
              </m:oMath>
            </a14:m>
            <a:r>
              <a:t> erg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43B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73393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43B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73393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