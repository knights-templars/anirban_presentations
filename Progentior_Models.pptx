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Adapted from Maeda and Terada, 2016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>
            <a:off x="1409050" y="2222850"/>
            <a:ext cx="2475900" cy="355800"/>
          </a:xfrm>
          <a:prstGeom prst="flowChartAlternateProcess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C+O WD + MS/RG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/>
          <p:nvPr/>
        </p:nvSpPr>
        <p:spPr>
          <a:xfrm flipH="1">
            <a:off x="1409050" y="2997600"/>
            <a:ext cx="2475900" cy="355800"/>
          </a:xfrm>
          <a:prstGeom prst="flowChartAlternateProcess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C+O WD + He star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rot="10800000">
            <a:off x="1067075" y="2393850"/>
            <a:ext cx="342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1053350" y="2407625"/>
            <a:ext cx="0" cy="82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 flipH="1">
            <a:off x="1039775" y="3228100"/>
            <a:ext cx="3693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/>
          <p:nvPr/>
        </p:nvSpPr>
        <p:spPr>
          <a:xfrm>
            <a:off x="205050" y="2584725"/>
            <a:ext cx="492600" cy="47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SD</a:t>
            </a:r>
            <a:endParaRPr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13"/>
          <p:cNvSpPr/>
          <p:nvPr/>
        </p:nvSpPr>
        <p:spPr>
          <a:xfrm flipH="1">
            <a:off x="4940275" y="2222850"/>
            <a:ext cx="2475900" cy="355800"/>
          </a:xfrm>
          <a:prstGeom prst="flowChartAlternateProcess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C+O WD + C+O 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" name="Google Shape;61;p13"/>
          <p:cNvSpPr/>
          <p:nvPr/>
        </p:nvSpPr>
        <p:spPr>
          <a:xfrm flipH="1">
            <a:off x="4940275" y="2997600"/>
            <a:ext cx="2475900" cy="355800"/>
          </a:xfrm>
          <a:prstGeom prst="flowChartAlternateProcess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C+O WD + He 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3"/>
          <p:cNvSpPr/>
          <p:nvPr/>
        </p:nvSpPr>
        <p:spPr>
          <a:xfrm flipH="1">
            <a:off x="3720750" y="1418275"/>
            <a:ext cx="1272000" cy="355800"/>
          </a:xfrm>
          <a:prstGeom prst="flowChartAlternateProcess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Ch 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" name="Google Shape;63;p13"/>
          <p:cNvSpPr/>
          <p:nvPr/>
        </p:nvSpPr>
        <p:spPr>
          <a:xfrm flipH="1">
            <a:off x="246425" y="1425150"/>
            <a:ext cx="1956000" cy="355800"/>
          </a:xfrm>
          <a:prstGeom prst="flowChartAlternateProcess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Super-Ch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13"/>
          <p:cNvSpPr/>
          <p:nvPr/>
        </p:nvSpPr>
        <p:spPr>
          <a:xfrm flipH="1">
            <a:off x="3488100" y="3772350"/>
            <a:ext cx="1737300" cy="355800"/>
          </a:xfrm>
          <a:prstGeom prst="flowChartAlternateProcess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Sub-Ch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 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13"/>
          <p:cNvSpPr/>
          <p:nvPr/>
        </p:nvSpPr>
        <p:spPr>
          <a:xfrm flipH="1">
            <a:off x="4793775" y="442700"/>
            <a:ext cx="3304500" cy="355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  <a:latin typeface="Courier New"/>
                <a:ea typeface="Courier New"/>
                <a:cs typeface="Courier New"/>
                <a:sym typeface="Courier New"/>
              </a:rPr>
              <a:t>Failed Deflagration</a:t>
            </a:r>
            <a:endParaRPr sz="1800">
              <a:solidFill>
                <a:srgbClr val="5B0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p13"/>
          <p:cNvSpPr/>
          <p:nvPr/>
        </p:nvSpPr>
        <p:spPr>
          <a:xfrm flipH="1">
            <a:off x="1067075" y="442700"/>
            <a:ext cx="2862300" cy="355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  <a:latin typeface="Courier New"/>
                <a:ea typeface="Courier New"/>
                <a:cs typeface="Courier New"/>
                <a:sym typeface="Courier New"/>
              </a:rPr>
              <a:t>Delayed Detonation</a:t>
            </a:r>
            <a:endParaRPr sz="1800">
              <a:solidFill>
                <a:srgbClr val="5B0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7" name="Google Shape;67;p13"/>
          <p:cNvCxnSpPr/>
          <p:nvPr/>
        </p:nvCxnSpPr>
        <p:spPr>
          <a:xfrm rot="10800000">
            <a:off x="7416275" y="2407600"/>
            <a:ext cx="422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7838375" y="2407600"/>
            <a:ext cx="0" cy="82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 rot="10800000">
            <a:off x="7416275" y="3231550"/>
            <a:ext cx="422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/>
          <p:nvPr/>
        </p:nvCxnSpPr>
        <p:spPr>
          <a:xfrm flipH="1">
            <a:off x="7838350" y="2817975"/>
            <a:ext cx="342000" cy="5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/>
          <p:nvPr/>
        </p:nvSpPr>
        <p:spPr>
          <a:xfrm>
            <a:off x="8098275" y="2582050"/>
            <a:ext cx="492600" cy="47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DD</a:t>
            </a:r>
            <a:endParaRPr sz="2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13"/>
          <p:cNvSpPr/>
          <p:nvPr/>
        </p:nvSpPr>
        <p:spPr>
          <a:xfrm flipH="1">
            <a:off x="6047825" y="1425151"/>
            <a:ext cx="2862300" cy="355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  <a:latin typeface="Courier New"/>
                <a:ea typeface="Courier New"/>
                <a:cs typeface="Courier New"/>
                <a:sym typeface="Courier New"/>
              </a:rPr>
              <a:t>Violent Merger</a:t>
            </a:r>
            <a:endParaRPr sz="1800">
              <a:solidFill>
                <a:srgbClr val="5B0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3"/>
          <p:cNvSpPr/>
          <p:nvPr/>
        </p:nvSpPr>
        <p:spPr>
          <a:xfrm flipH="1">
            <a:off x="2925600" y="4547100"/>
            <a:ext cx="2862300" cy="355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B0F00"/>
                </a:solidFill>
                <a:latin typeface="Courier New"/>
                <a:ea typeface="Courier New"/>
                <a:cs typeface="Courier New"/>
                <a:sym typeface="Courier New"/>
              </a:rPr>
              <a:t>Double Detonation</a:t>
            </a:r>
            <a:endParaRPr sz="1800">
              <a:solidFill>
                <a:srgbClr val="5B0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4" name="Google Shape;74;p13"/>
          <p:cNvCxnSpPr/>
          <p:nvPr/>
        </p:nvCxnSpPr>
        <p:spPr>
          <a:xfrm flipH="1">
            <a:off x="711350" y="2817975"/>
            <a:ext cx="342000" cy="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>
            <a:stCxn id="54" idx="0"/>
            <a:endCxn id="63" idx="2"/>
          </p:cNvCxnSpPr>
          <p:nvPr/>
        </p:nvCxnSpPr>
        <p:spPr>
          <a:xfrm rot="10800000">
            <a:off x="1224400" y="1780950"/>
            <a:ext cx="1422600" cy="441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54" idx="0"/>
            <a:endCxn id="62" idx="2"/>
          </p:cNvCxnSpPr>
          <p:nvPr/>
        </p:nvCxnSpPr>
        <p:spPr>
          <a:xfrm flipH="1" rot="10800000">
            <a:off x="2647000" y="1774050"/>
            <a:ext cx="1709700" cy="448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62" idx="0"/>
            <a:endCxn id="66" idx="2"/>
          </p:cNvCxnSpPr>
          <p:nvPr/>
        </p:nvCxnSpPr>
        <p:spPr>
          <a:xfrm rot="10800000">
            <a:off x="2498250" y="798475"/>
            <a:ext cx="1858500" cy="61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3"/>
          <p:cNvCxnSpPr>
            <a:stCxn id="62" idx="0"/>
            <a:endCxn id="65" idx="2"/>
          </p:cNvCxnSpPr>
          <p:nvPr/>
        </p:nvCxnSpPr>
        <p:spPr>
          <a:xfrm flipH="1" rot="10800000">
            <a:off x="4356750" y="798475"/>
            <a:ext cx="2089200" cy="61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>
            <a:stCxn id="55" idx="2"/>
            <a:endCxn id="64" idx="0"/>
          </p:cNvCxnSpPr>
          <p:nvPr/>
        </p:nvCxnSpPr>
        <p:spPr>
          <a:xfrm>
            <a:off x="2647000" y="3353400"/>
            <a:ext cx="1709700" cy="419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>
            <a:stCxn id="64" idx="2"/>
            <a:endCxn id="73" idx="0"/>
          </p:cNvCxnSpPr>
          <p:nvPr/>
        </p:nvCxnSpPr>
        <p:spPr>
          <a:xfrm>
            <a:off x="4356750" y="4128150"/>
            <a:ext cx="0" cy="41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>
            <a:stCxn id="61" idx="2"/>
            <a:endCxn id="64" idx="0"/>
          </p:cNvCxnSpPr>
          <p:nvPr/>
        </p:nvCxnSpPr>
        <p:spPr>
          <a:xfrm flipH="1">
            <a:off x="4356625" y="3353400"/>
            <a:ext cx="1821600" cy="41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60" idx="0"/>
            <a:endCxn id="63" idx="2"/>
          </p:cNvCxnSpPr>
          <p:nvPr/>
        </p:nvCxnSpPr>
        <p:spPr>
          <a:xfrm rot="10800000">
            <a:off x="1224325" y="1780950"/>
            <a:ext cx="4953900" cy="44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3"/>
          <p:cNvCxnSpPr>
            <a:stCxn id="60" idx="0"/>
            <a:endCxn id="72" idx="2"/>
          </p:cNvCxnSpPr>
          <p:nvPr/>
        </p:nvCxnSpPr>
        <p:spPr>
          <a:xfrm flipH="1" rot="10800000">
            <a:off x="6178225" y="1780950"/>
            <a:ext cx="1300800" cy="44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3"/>
          <p:cNvCxnSpPr>
            <a:stCxn id="60" idx="0"/>
            <a:endCxn id="62" idx="2"/>
          </p:cNvCxnSpPr>
          <p:nvPr/>
        </p:nvCxnSpPr>
        <p:spPr>
          <a:xfrm rot="10800000">
            <a:off x="4356625" y="1774050"/>
            <a:ext cx="1821600" cy="44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3"/>
          <p:cNvSpPr/>
          <p:nvPr/>
        </p:nvSpPr>
        <p:spPr>
          <a:xfrm flipH="1">
            <a:off x="6445875" y="933925"/>
            <a:ext cx="1652400" cy="355800"/>
          </a:xfrm>
          <a:prstGeom prst="flowChartAlternateProcess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ONeMg WD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6" name="Google Shape;86;p13"/>
          <p:cNvCxnSpPr>
            <a:endCxn id="85" idx="3"/>
          </p:cNvCxnSpPr>
          <p:nvPr/>
        </p:nvCxnSpPr>
        <p:spPr>
          <a:xfrm flipH="1" rot="10800000">
            <a:off x="5157075" y="1111825"/>
            <a:ext cx="1288800" cy="83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3"/>
          <p:cNvSpPr/>
          <p:nvPr/>
        </p:nvSpPr>
        <p:spPr>
          <a:xfrm flipH="1">
            <a:off x="588425" y="934050"/>
            <a:ext cx="1272000" cy="355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5B0F00"/>
                </a:solidFill>
                <a:latin typeface="Courier New"/>
                <a:ea typeface="Courier New"/>
                <a:cs typeface="Courier New"/>
                <a:sym typeface="Courier New"/>
              </a:rPr>
              <a:t>??</a:t>
            </a:r>
            <a:endParaRPr sz="1800">
              <a:solidFill>
                <a:srgbClr val="5B0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8" name="Google Shape;88;p13"/>
          <p:cNvCxnSpPr>
            <a:stCxn id="63" idx="0"/>
            <a:endCxn id="87" idx="2"/>
          </p:cNvCxnSpPr>
          <p:nvPr/>
        </p:nvCxnSpPr>
        <p:spPr>
          <a:xfrm rot="10800000">
            <a:off x="1224425" y="1289850"/>
            <a:ext cx="0" cy="135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/>
          <p:nvPr/>
        </p:nvCxnSpPr>
        <p:spPr>
          <a:xfrm rot="10800000">
            <a:off x="1472600" y="1289850"/>
            <a:ext cx="0" cy="1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>
            <a:stCxn id="62" idx="0"/>
            <a:endCxn id="66" idx="1"/>
          </p:cNvCxnSpPr>
          <p:nvPr/>
        </p:nvCxnSpPr>
        <p:spPr>
          <a:xfrm rot="10800000">
            <a:off x="3929250" y="620575"/>
            <a:ext cx="427500" cy="797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3"/>
          <p:cNvCxnSpPr>
            <a:stCxn id="62" idx="0"/>
            <a:endCxn id="65" idx="3"/>
          </p:cNvCxnSpPr>
          <p:nvPr/>
        </p:nvCxnSpPr>
        <p:spPr>
          <a:xfrm flipH="1" rot="10800000">
            <a:off x="4356750" y="620575"/>
            <a:ext cx="437100" cy="797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3"/>
          <p:cNvCxnSpPr/>
          <p:nvPr/>
        </p:nvCxnSpPr>
        <p:spPr>
          <a:xfrm flipH="1" rot="10800000">
            <a:off x="5936838" y="3943350"/>
            <a:ext cx="711300" cy="13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/>
          <p:nvPr/>
        </p:nvCxnSpPr>
        <p:spPr>
          <a:xfrm flipH="1" rot="10800000">
            <a:off x="5936850" y="4408775"/>
            <a:ext cx="711300" cy="1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3"/>
          <p:cNvSpPr/>
          <p:nvPr/>
        </p:nvSpPr>
        <p:spPr>
          <a:xfrm>
            <a:off x="6767675" y="3772350"/>
            <a:ext cx="1858500" cy="35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companion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6767675" y="4240250"/>
            <a:ext cx="1858500" cy="35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companion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